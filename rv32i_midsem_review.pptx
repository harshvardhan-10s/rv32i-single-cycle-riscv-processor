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1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runsayal/rv32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runsayal/rv32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runsayal/rv32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A2D4A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8A6FF"/>
                </a:solidFill>
              </a:rPr>
              <a:t>MID-SEM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 Cycle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RISC-V Processor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</a:rPr>
              <a:t>RV32I Implementation in Verilog HDL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943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949E"/>
                </a:solidFill>
              </a:rPr>
              <a:t>PRESENTED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54864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34015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Tarun Sayal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401568"/>
            <a:ext cx="54864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34015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Snehal Sagar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85616"/>
            <a:ext cx="54864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785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Megha Shindhe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785616"/>
            <a:ext cx="54864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3785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Harshvardhan Shinde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Vishwakarma Institute of Technology, Pune</a:t>
            </a:r>
            <a:endParaRPr lang="en-US" sz="1000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45720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58A6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github.com/Tarunsayal/rv32i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0" y="91440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164592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377440"/>
            <a:ext cx="73152" cy="731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3108960"/>
            <a:ext cx="73152" cy="7315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54496" y="950976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1682496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2414016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11696" y="950976"/>
            <a:ext cx="18288" cy="14813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26096" y="950976"/>
            <a:ext cx="18288" cy="148132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RISC-V &amp; project motivation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Architecture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RV32I ISA &amp; single-cycle concept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953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Processor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64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Datapath &amp; block diagram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9136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Datapath Diagram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RV32I single-cycle circuit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0332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Modules Built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344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All 8 core modules complete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92024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2024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202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Supported Instructions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304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37 RV32I instructions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953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Work Done &amp; Next Steps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264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Progress status &amp; pending tasks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84048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40480"/>
            <a:ext cx="502920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8404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39136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GitHub &amp;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Why RISC-V?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074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Modern processors use x86 &amp; ARM — complex, patented architectures. RISC-V is open-source and freely available.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What is RISC-V?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An open Instruction Set Architecture developed at UC Berkeley. Follows Reduced Instruction Set Computing (RISC) principles.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114800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RV32I Subset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The base integer ISA — 32-bit instructions, 32 general-purpose registers. Covers arithmetic, memory, and branch operations.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114800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346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Why Single-Cycle?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552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Each instruction completes in one clock cycle. Ideal for learning processor internals — clean, simple datapath with no pipeline hazards.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RISC-V ARCHITECTURE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Open-Source ISA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No licensing fees. Fully modular — base + optional extensions.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75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32 Registers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x0–x31, each 32-bit wide. x0 is hardwired to zero.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RISC Principles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Fixed 32-bit instruction width. Load-store architecture. Simple, orthogonal encoding.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54864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Instruction Formats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R-type, I-type, S-type, B-type (and more). Each format has fixed field positions for rs1, rs2, rd, funct3, funct7.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RV32I Instruction Format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R-type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1371600"/>
            <a:ext cx="560832" cy="3840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funct7[7]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56960" y="137160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696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rs2[5]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36080" y="137160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608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rs1[5]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0" y="1371600"/>
            <a:ext cx="560832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fn3[3]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894320" y="1371600"/>
            <a:ext cx="560832" cy="384048"/>
          </a:xfrm>
          <a:prstGeom prst="rect">
            <a:avLst/>
          </a:prstGeom>
          <a:solidFill>
            <a:srgbClr val="3FB9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432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rd[5]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473440" y="1371600"/>
            <a:ext cx="560832" cy="38404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73440" y="137160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op[7]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21488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I-type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148840"/>
            <a:ext cx="676656" cy="3840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14884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imm[12]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72784" y="2148840"/>
            <a:ext cx="676656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214884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rs1[5]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67728" y="2148840"/>
            <a:ext cx="676656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14884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fn3[3]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62672" y="2148840"/>
            <a:ext cx="676656" cy="384048"/>
          </a:xfrm>
          <a:prstGeom prst="rect">
            <a:avLst/>
          </a:prstGeom>
          <a:solidFill>
            <a:srgbClr val="3FB9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62672" y="214884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rd[5]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357616" y="2148840"/>
            <a:ext cx="676656" cy="38404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7616" y="214884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op[7]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46320" y="29260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S-type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2926080"/>
            <a:ext cx="560832" cy="3840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imm[7]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56960" y="292608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696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rs2[5]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736080" y="292608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3608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rs1[5]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315200" y="2926080"/>
            <a:ext cx="560832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fn3[3]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894320" y="2926080"/>
            <a:ext cx="560832" cy="384048"/>
          </a:xfrm>
          <a:prstGeom prst="rect">
            <a:avLst/>
          </a:prstGeom>
          <a:solidFill>
            <a:srgbClr val="3FB9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9432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imm[5]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473440" y="2926080"/>
            <a:ext cx="560832" cy="38404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73440" y="292608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op[7]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4632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B-type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3703320"/>
            <a:ext cx="560832" cy="3840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imm[7]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56960" y="370332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5696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rs2[5]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736080" y="3703320"/>
            <a:ext cx="560832" cy="384048"/>
          </a:xfrm>
          <a:prstGeom prst="rect">
            <a:avLst/>
          </a:prstGeom>
          <a:solidFill>
            <a:srgbClr val="1F6F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3608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rs1[5]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315200" y="3703320"/>
            <a:ext cx="560832" cy="384048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fn3[3]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894320" y="3703320"/>
            <a:ext cx="560832" cy="384048"/>
          </a:xfrm>
          <a:prstGeom prst="rect">
            <a:avLst/>
          </a:prstGeom>
          <a:solidFill>
            <a:srgbClr val="3FB9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432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imm[5]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473440" y="3703320"/>
            <a:ext cx="560832" cy="384048"/>
          </a:xfrm>
          <a:prstGeom prst="rect">
            <a:avLst/>
          </a:prstGeom>
          <a:solidFill>
            <a:srgbClr val="8B949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73440" y="3703320"/>
            <a:ext cx="56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F6FC"/>
                </a:solidFill>
              </a:rPr>
              <a:t>op[7]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84632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32-bit fixed-width instructions | 32 registers (x0–x31) | Load-Store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PC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859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Program Counter — holds address of current instruction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IMEM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Instruction Memory — stores 32-bit instructions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836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RegFile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920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32×32 register file with 2 read ports, 1 write 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140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ImmGen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450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Immediate Generator — sign-extends fields by instruction 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443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Control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2980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Decoder + Control Unit — generates all control signals from opcode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ALU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511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10-operation ALU — ADD, SUB, AND, OR, XOR, SLL, SRL, SRA, SLT, SLTU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050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DMEM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041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Data Memory — read/write for LW/SW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535424"/>
            <a:ext cx="10058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53542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ALU Ctrl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572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Maps ALUOp + funct3 + funct7 → 4-bit ALU select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097280"/>
            <a:ext cx="658368" cy="1554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2344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Fetch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178308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PC → IMEM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96128" y="1828800"/>
            <a:ext cx="11887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1097280"/>
            <a:ext cx="658368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12344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Decode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178308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Control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ImmGen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RegFile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73368" y="1828800"/>
            <a:ext cx="11887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1097280"/>
            <a:ext cx="65836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12344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Execute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178308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ALU Ctrl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+ ALU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50608" y="1828800"/>
            <a:ext cx="11887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1097280"/>
            <a:ext cx="658368" cy="1554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69480" y="12344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Memory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178308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DMEM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R/W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927848" y="1828800"/>
            <a:ext cx="118872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1097280"/>
            <a:ext cx="658368" cy="1554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046720" y="12344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Write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Back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178308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RegFile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0C8D0"/>
                </a:solidFill>
              </a:rPr>
              <a:t>Write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634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</a:rPr>
              <a:t>Single-Cycle Datapath — all stages resolve in one clock cycle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Key Control Signals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611880"/>
          <a:ext cx="4297680" cy="1325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ALUSrc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Reg vs Immediate to ALU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MemWrite / MemRead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Data memory control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RegWrite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Write-back enable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PCSrc = Branch &amp; Zero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Branch mux select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B949E"/>
                </a:solidFill>
              </a:rPr>
              <a:t>RV32I Single-Cycle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/home/claude/data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0392"/>
            <a:ext cx="850392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773168"/>
            <a:ext cx="164592" cy="1645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PCSrc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737360" y="4773168"/>
            <a:ext cx="164592" cy="1645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ALUControl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54680" y="4773168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584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ALUSrc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0" y="4773168"/>
            <a:ext cx="164592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MemWrite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4773168"/>
            <a:ext cx="164592" cy="1645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RegWrite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06640" y="4773168"/>
            <a:ext cx="164592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7808" y="4754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ImmSrc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MODULES BUILT  —  8 / 8 Complete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000" y="102412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024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pc_counter.v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32-bit PC register. Updates to PC+4 (sequential) or branch target on PCSrc.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0" y="102412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024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instr_mem.v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3167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Read-only instruction memory. Outputs 32-bit instruction at PC address.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2048256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482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imm_gen.v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3408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Sign-extends immediates for I, S, B types from instruction fields.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93852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2048256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0482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decoder.v + control_unit.v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408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Decodes opcode → control signals: ALUSrc, ALUOp[1:0], MemWrite, MemRead, RegWrite, Branch.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07238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0723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3054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alu.v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364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10 operations: ADD, SUB, AND, OR, XOR, SLL, SRL, SRA, SLT, SLTU. Produces zero flag.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0" y="307238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30723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054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reg_file.v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364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32×32 register file. Two async read ports, one sync write port. x0 hardwired to 0.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98678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000" y="409651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096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078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data_mem.v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Byte-addressable data memory for LW (load) and SW (store) instructions.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98678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863840" y="409651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3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4096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B950"/>
                </a:solidFill>
              </a:rPr>
              <a:t>DONE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46320" y="4078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alu_control.v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Maps ALUOp[1:0] + funct3[2:0] + funct7[5] → 4-bit ALU_sel. Handles R-type, I-type, LW/SW, BEQ.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SUPPORTED INSTRUCTIONS  —  37 of 47 RV32I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365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R-Type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167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Register-register arithmetic &amp; logic — 10 instructions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9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ADD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60934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609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SUB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60934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09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AND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60934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09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933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XOR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19933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9933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SRL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9933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774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23774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3774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SLTU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926080"/>
            <a:ext cx="201168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26080"/>
            <a:ext cx="20116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443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S-Type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" y="33284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Store — 3 instructions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621024"/>
            <a:ext cx="5181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21024"/>
            <a:ext cx="51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5360" y="3621024"/>
            <a:ext cx="5181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360" y="3621024"/>
            <a:ext cx="51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84960" y="3621024"/>
            <a:ext cx="5181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4960" y="3621024"/>
            <a:ext cx="51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2926080"/>
            <a:ext cx="20574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377440" y="2926080"/>
            <a:ext cx="20574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94436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B-Type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487168" y="3328416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Conditional branches — 6 instructions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14600" y="3621024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621024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BEQ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39440" y="3621024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39440" y="3621024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64280" y="3621024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64280" y="3621024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BLT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14600" y="4005072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4005072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39440" y="4005072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39440" y="4005072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BLTU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64280" y="4005072"/>
            <a:ext cx="53340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64280" y="4005072"/>
            <a:ext cx="53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BGEU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914400"/>
            <a:ext cx="429768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914400"/>
            <a:ext cx="4297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93268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I-Type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27448" y="13167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Immediate arithmetic, loads, JALR — 15 instructions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1609344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1609344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ADDI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83580" y="1609344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83580" y="1609344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ANDI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12280" y="1609344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12280" y="1609344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ORI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40980" y="1609344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40980" y="1609344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XORI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1993392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1993392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SLTI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83580" y="1993392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83580" y="1993392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SLTIU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12280" y="1993392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12280" y="1993392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SLLI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40980" y="1993392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40980" y="1993392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SRLI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54880" y="2377440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2377440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SRAI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783580" y="2377440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83580" y="2377440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LW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12280" y="2377440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12280" y="2377440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LH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840980" y="2377440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40980" y="2377440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LB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754880" y="2761488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0" y="2761488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LHU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783580" y="2761488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83580" y="2761488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LBU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812280" y="2761488"/>
            <a:ext cx="937260" cy="292608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12280" y="2761488"/>
            <a:ext cx="9372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</a:rPr>
              <a:t>JALR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DONE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Module Completion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FB950"/>
                </a:solidFill>
              </a:rPr>
              <a:t>8 / 8 Modules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8412480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117"/>
                </a:solidFill>
              </a:rPr>
              <a:t>100% — All modules written &amp; testbenched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B950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02536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38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pc_counter.v — PC register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134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instr_mem.v — 32-bit instruction ROM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52344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883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imm_gen.v — sign-extended immediate (I/S/B)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decoder.v + control_unit.v — control signals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381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alu.v — 10 operations + zero flag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130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reg_file.v — 32×32, x0 hardwired zero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data_mem.v — LW/SW, testbenched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626864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628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alu_control.v — ALUOp+funct3+funct7 → sel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78166"/>
                </a:solidFill>
              </a:rPr>
              <a:t>PENDING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938528"/>
            <a:ext cx="402336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riscv_top.v — Top-Level Integration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4231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Wire all 8 modules together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PCSrc = Branch &amp; Zero  (AND gate)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37 RV32I instructions functional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Full system testbench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402336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Instruction Coverage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37 of 47 RV32I base instructions targeted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(excludes FENCE, ECALL, EBREAK, CSR class)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4645152"/>
            <a:ext cx="402336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>
            <a:hlinkClick r:id="rId3"/>
          </p:cNvPr>
          <p:cNvSpPr/>
          <p:nvPr/>
        </p:nvSpPr>
        <p:spPr>
          <a:xfrm>
            <a:off x="4892040" y="4645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58A6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github.com/Tarunsayal/rv32i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228600" cy="2286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332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All 8 Modules Written &amp; Testbenched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All core modules of the RV32I single-cycle processor implemented in Verilog HDL — each individually verified with a testbench.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56232"/>
            <a:ext cx="54864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30552"/>
            <a:ext cx="228600" cy="2286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293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Supports Full Instruction Classes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37 of 47 RV32I base instructions targeted across R, I, S, and B types. 10-operation ALU with zero flag.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52344"/>
            <a:ext cx="54864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26664"/>
            <a:ext cx="228600" cy="2286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254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Clean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Strictly follows the RV32I single-cycle datapath — separate control and datapath, pure register PC, proper ImmGen.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48456"/>
            <a:ext cx="54864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22776"/>
            <a:ext cx="228600" cy="2286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216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One Step from Completion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3250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Only top-level integration (riscv_top.v) remains — wiring all 8 modules together and running the full system testbench.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RV32I Single-Cycle Processor  |  Mid-Semester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Tarun Sayal  |  Snehal Sagar  |  Megha Shindhe  |  Harshvardhan Shinde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1660" y="31431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98341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GitHub</a:t>
            </a:r>
            <a:endParaRPr lang="en-US" sz="11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1897380" y="3098341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58A6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github.com/Tarunsayal/rv32i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09728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09728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097280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75564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75564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1755648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75564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41401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2414016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41401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41401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072384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7238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07238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072384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7307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7307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730752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37307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1112</Words>
  <Application>Microsoft Office PowerPoint</Application>
  <PresentationFormat>On-screen Show (16:9)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Cycle RISC-V Processor</dc:title>
  <dc:subject>PptxGenJS Presentation</dc:subject>
  <dc:creator>Tarun Sayal</dc:creator>
  <cp:lastModifiedBy>Tarun Sayal</cp:lastModifiedBy>
  <cp:revision>2</cp:revision>
  <dcterms:created xsi:type="dcterms:W3CDTF">2026-03-11T19:34:32Z</dcterms:created>
  <dcterms:modified xsi:type="dcterms:W3CDTF">2026-03-11T19:39:41Z</dcterms:modified>
</cp:coreProperties>
</file>